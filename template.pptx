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67" r:id="rId2"/>
    <p:sldId id="268" r:id="rId3"/>
    <p:sldId id="269" r:id="rId4"/>
    <p:sldId id="257" r:id="rId5"/>
    <p:sldId id="258" r:id="rId6"/>
    <p:sldId id="259" r:id="rId7"/>
    <p:sldId id="260" r:id="rId8"/>
    <p:sldId id="261" r:id="rId9"/>
    <p:sldId id="262" r:id="rId10"/>
    <p:sldId id="265" r:id="rId11"/>
    <p:sldId id="263" r:id="rId12"/>
  </p:sldIdLst>
  <p:sldSz cx="9144000" cy="6858000" type="screen4x3"/>
  <p:notesSz cx="6858000" cy="9144000"/>
  <p:defaultTextStyle>
    <a:defPPr>
      <a:defRPr lang="ar-SA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412" autoAdjust="0"/>
    <p:restoredTop sz="94671" autoAdjust="0"/>
  </p:normalViewPr>
  <p:slideViewPr>
    <p:cSldViewPr>
      <p:cViewPr varScale="1">
        <p:scale>
          <a:sx n="105" d="100"/>
          <a:sy n="105" d="100"/>
        </p:scale>
        <p:origin x="180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ورقة1!$B$1</c:f>
              <c:strCache>
                <c:ptCount val="1"/>
                <c:pt idx="0">
                  <c:v>العدد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ورقة1!$A$2:$A$3</c:f>
              <c:strCache>
                <c:ptCount val="2"/>
                <c:pt idx="0">
                  <c:v>ذكر</c:v>
                </c:pt>
                <c:pt idx="1">
                  <c:v>انثى</c:v>
                </c:pt>
              </c:strCache>
            </c:strRef>
          </c:cat>
          <c:val>
            <c:numRef>
              <c:f>ورقة1!$B$2:$B$3</c:f>
              <c:numCache>
                <c:formatCode>General</c:formatCode>
                <c:ptCount val="2"/>
              </c:numCache>
            </c:numRef>
          </c:val>
          <c:extLst>
            <c:ext xmlns:c16="http://schemas.microsoft.com/office/drawing/2014/chart" uri="{C3380CC4-5D6E-409C-BE32-E72D297353CC}">
              <c16:uniqueId val="{00000000-5FD1-4258-AC3D-CEA821E15C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65578112"/>
        <c:axId val="65479424"/>
      </c:barChart>
      <c:catAx>
        <c:axId val="6557811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65479424"/>
        <c:crosses val="autoZero"/>
        <c:auto val="1"/>
        <c:lblAlgn val="ctr"/>
        <c:lblOffset val="100"/>
        <c:noMultiLvlLbl val="0"/>
      </c:catAx>
      <c:valAx>
        <c:axId val="65479424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65578112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ar-EG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ورقة1!$B$1</c:f>
              <c:strCache>
                <c:ptCount val="1"/>
                <c:pt idx="0">
                  <c:v>العدد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ورقة1!$A$2:$A$5</c:f>
              <c:strCache>
                <c:ptCount val="4"/>
                <c:pt idx="0">
                  <c:v>داخلى </c:v>
                </c:pt>
                <c:pt idx="1">
                  <c:v>عياده خارجيه</c:v>
                </c:pt>
                <c:pt idx="2">
                  <c:v>استقبال</c:v>
                </c:pt>
                <c:pt idx="3">
                  <c:v>معمل</c:v>
                </c:pt>
              </c:strCache>
            </c:strRef>
          </c:cat>
          <c:val>
            <c:numRef>
              <c:f>ورقة1!$B$2:$B$5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0-5423-464D-B7F4-642BB06DF3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82270080"/>
        <c:axId val="82271616"/>
      </c:barChart>
      <c:catAx>
        <c:axId val="82270080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82271616"/>
        <c:crosses val="autoZero"/>
        <c:auto val="1"/>
        <c:lblAlgn val="ctr"/>
        <c:lblOffset val="100"/>
        <c:noMultiLvlLbl val="0"/>
      </c:catAx>
      <c:valAx>
        <c:axId val="8227161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82270080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ar-EG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ورقة1!$B$1</c:f>
              <c:strCache>
                <c:ptCount val="1"/>
                <c:pt idx="0">
                  <c:v>العدد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ورقة1!$A$2:$A$7</c:f>
              <c:strCache>
                <c:ptCount val="6"/>
                <c:pt idx="0">
                  <c:v>شفاء</c:v>
                </c:pt>
                <c:pt idx="1">
                  <c:v>تحت العلاج</c:v>
                </c:pt>
                <c:pt idx="2">
                  <c:v>تحويل</c:v>
                </c:pt>
                <c:pt idx="3">
                  <c:v>وفاه</c:v>
                </c:pt>
                <c:pt idx="4">
                  <c:v>هروب </c:v>
                </c:pt>
                <c:pt idx="5">
                  <c:v>مضاعفات</c:v>
                </c:pt>
              </c:strCache>
            </c:strRef>
          </c:cat>
          <c:val>
            <c:numRef>
              <c:f>ورقة1!$B$2:$B$7</c:f>
              <c:numCache>
                <c:formatCode>General</c:formatCode>
                <c:ptCount val="6"/>
              </c:numCache>
            </c:numRef>
          </c:val>
          <c:extLst>
            <c:ext xmlns:c16="http://schemas.microsoft.com/office/drawing/2014/chart" uri="{C3380CC4-5D6E-409C-BE32-E72D297353CC}">
              <c16:uniqueId val="{00000000-0959-48C5-924D-691484C186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82301696"/>
        <c:axId val="82303232"/>
      </c:barChart>
      <c:catAx>
        <c:axId val="8230169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82303232"/>
        <c:crosses val="autoZero"/>
        <c:auto val="1"/>
        <c:lblAlgn val="ctr"/>
        <c:lblOffset val="100"/>
        <c:noMultiLvlLbl val="0"/>
      </c:catAx>
      <c:valAx>
        <c:axId val="8230323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82301696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ar-EG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ورقة1!$B$1</c:f>
              <c:strCache>
                <c:ptCount val="1"/>
                <c:pt idx="0">
                  <c:v>العدد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ورقة1!$A$2:$A$5</c:f>
              <c:strCache>
                <c:ptCount val="4"/>
                <c:pt idx="0">
                  <c:v>مشتبه</c:v>
                </c:pt>
                <c:pt idx="1">
                  <c:v>محتمل</c:v>
                </c:pt>
                <c:pt idx="2">
                  <c:v>مؤكد</c:v>
                </c:pt>
                <c:pt idx="3">
                  <c:v>مستيعده</c:v>
                </c:pt>
              </c:strCache>
            </c:strRef>
          </c:cat>
          <c:val>
            <c:numRef>
              <c:f>ورقة1!$B$2:$B$5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0-05AB-4FF7-A4A3-B367C53806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82402688"/>
        <c:axId val="82408576"/>
      </c:barChart>
      <c:catAx>
        <c:axId val="8240268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82408576"/>
        <c:crosses val="autoZero"/>
        <c:auto val="1"/>
        <c:lblAlgn val="ctr"/>
        <c:lblOffset val="100"/>
        <c:noMultiLvlLbl val="0"/>
      </c:catAx>
      <c:valAx>
        <c:axId val="824085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82402688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ar-EG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ورقة1!$B$1</c:f>
              <c:strCache>
                <c:ptCount val="1"/>
                <c:pt idx="0">
                  <c:v>العدد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ورقة1!$A$2:$A$15</c:f>
              <c:strCache>
                <c:ptCount val="14"/>
                <c:pt idx="0">
                  <c:v>Ari</c:v>
                </c:pt>
                <c:pt idx="1">
                  <c:v>درن</c:v>
                </c:pt>
                <c:pt idx="2">
                  <c:v>انفلونزا طيور</c:v>
                </c:pt>
                <c:pt idx="3">
                  <c:v>covid19</c:v>
                </c:pt>
                <c:pt idx="4">
                  <c:v>Mers-cov</c:v>
                </c:pt>
                <c:pt idx="5">
                  <c:v>كبدى حاد</c:v>
                </c:pt>
                <c:pt idx="6">
                  <c:v>كبدىc</c:v>
                </c:pt>
                <c:pt idx="7">
                  <c:v>كبدى B</c:v>
                </c:pt>
                <c:pt idx="8">
                  <c:v>كبدى A</c:v>
                </c:pt>
                <c:pt idx="9">
                  <c:v>البلهارسيا</c:v>
                </c:pt>
                <c:pt idx="10">
                  <c:v>البروسيلا</c:v>
                </c:pt>
                <c:pt idx="11">
                  <c:v>النكاف</c:v>
                </c:pt>
                <c:pt idx="12">
                  <c:v>الفاشيولا</c:v>
                </c:pt>
                <c:pt idx="13">
                  <c:v>التيفود</c:v>
                </c:pt>
              </c:strCache>
            </c:strRef>
          </c:cat>
          <c:val>
            <c:numRef>
              <c:f>ورقة1!$B$2:$B$15</c:f>
              <c:numCache>
                <c:formatCode>General</c:formatCode>
                <c:ptCount val="14"/>
              </c:numCache>
            </c:numRef>
          </c:val>
          <c:extLst>
            <c:ext xmlns:c16="http://schemas.microsoft.com/office/drawing/2014/chart" uri="{C3380CC4-5D6E-409C-BE32-E72D297353CC}">
              <c16:uniqueId val="{00000000-3638-4C78-86FB-8EA4217257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84699392"/>
        <c:axId val="84709376"/>
      </c:barChart>
      <c:catAx>
        <c:axId val="8469939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84709376"/>
        <c:crosses val="autoZero"/>
        <c:auto val="1"/>
        <c:lblAlgn val="ctr"/>
        <c:lblOffset val="100"/>
        <c:noMultiLvlLbl val="0"/>
      </c:catAx>
      <c:valAx>
        <c:axId val="847093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84699392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ar-EG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ورقة1!$B$1</c:f>
              <c:strCache>
                <c:ptCount val="1"/>
                <c:pt idx="0">
                  <c:v>العدد</c:v>
                </c:pt>
              </c:strCache>
            </c:strRef>
          </c:tx>
          <c:invertIfNegative val="0"/>
          <c:dLbls>
            <c:dLbl>
              <c:idx val="0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A792-4A50-87FD-D89FC0C68EA7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ورقة1!$A$2:$A$8</c:f>
              <c:strCache>
                <c:ptCount val="7"/>
                <c:pt idx="0">
                  <c:v>0-2</c:v>
                </c:pt>
                <c:pt idx="1">
                  <c:v>[&gt;2-5]</c:v>
                </c:pt>
                <c:pt idx="2">
                  <c:v>[&gt;5-15]</c:v>
                </c:pt>
                <c:pt idx="3">
                  <c:v>[&gt;15-35]</c:v>
                </c:pt>
                <c:pt idx="4">
                  <c:v>[&gt;35-50]</c:v>
                </c:pt>
                <c:pt idx="5">
                  <c:v>[&gt;50-65]</c:v>
                </c:pt>
                <c:pt idx="6">
                  <c:v>[&gt;65]</c:v>
                </c:pt>
              </c:strCache>
            </c:strRef>
          </c:cat>
          <c:val>
            <c:numRef>
              <c:f>ورقة1!$B$2:$B$8</c:f>
              <c:numCache>
                <c:formatCode>General</c:formatCode>
                <c:ptCount val="7"/>
              </c:numCache>
            </c:numRef>
          </c:val>
          <c:extLst>
            <c:ext xmlns:c16="http://schemas.microsoft.com/office/drawing/2014/chart" uri="{C3380CC4-5D6E-409C-BE32-E72D297353CC}">
              <c16:uniqueId val="{00000001-A792-4A50-87FD-D89FC0C68E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84735488"/>
        <c:axId val="84737024"/>
      </c:barChart>
      <c:catAx>
        <c:axId val="8473548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84737024"/>
        <c:crosses val="autoZero"/>
        <c:auto val="1"/>
        <c:lblAlgn val="ctr"/>
        <c:lblOffset val="100"/>
        <c:noMultiLvlLbl val="0"/>
      </c:catAx>
      <c:valAx>
        <c:axId val="84737024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84735488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ar-EG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ورقة1!$B$1</c:f>
              <c:strCache>
                <c:ptCount val="1"/>
                <c:pt idx="0">
                  <c:v>العدد</c:v>
                </c:pt>
              </c:strCache>
            </c:strRef>
          </c:tx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ورقة1!$A$2:$A$5</c:f>
              <c:strCache>
                <c:ptCount val="4"/>
                <c:pt idx="0">
                  <c:v>الاول</c:v>
                </c:pt>
                <c:pt idx="1">
                  <c:v>الثاني</c:v>
                </c:pt>
                <c:pt idx="2">
                  <c:v>الثالث</c:v>
                </c:pt>
                <c:pt idx="3">
                  <c:v>الرابع</c:v>
                </c:pt>
              </c:strCache>
            </c:strRef>
          </c:cat>
          <c:val>
            <c:numRef>
              <c:f>ورقة1!$B$2:$B$5</c:f>
              <c:numCache>
                <c:formatCode>General</c:formatCode>
                <c:ptCount val="4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7CB-4E63-8904-4A4442CAA3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0509696"/>
        <c:axId val="90511232"/>
      </c:lineChart>
      <c:catAx>
        <c:axId val="9050969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90511232"/>
        <c:crosses val="autoZero"/>
        <c:auto val="1"/>
        <c:lblAlgn val="ctr"/>
        <c:lblOffset val="100"/>
        <c:noMultiLvlLbl val="0"/>
      </c:catAx>
      <c:valAx>
        <c:axId val="90511232"/>
        <c:scaling>
          <c:orientation val="minMax"/>
        </c:scaling>
        <c:delete val="0"/>
        <c:axPos val="l"/>
        <c:majorGridlines/>
        <c:numFmt formatCode="0.00" sourceLinked="0"/>
        <c:majorTickMark val="out"/>
        <c:minorTickMark val="none"/>
        <c:tickLblPos val="nextTo"/>
        <c:crossAx val="90509696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ar-EG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ورقة1!$B$1</c:f>
              <c:strCache>
                <c:ptCount val="1"/>
                <c:pt idx="0">
                  <c:v>العدد</c:v>
                </c:pt>
              </c:strCache>
            </c:strRef>
          </c:tx>
          <c:marker>
            <c:symbol val="none"/>
          </c:marker>
          <c:cat>
            <c:strRef>
              <c:f>ورقة1!$A$2:$A$13</c:f>
              <c:strCache>
                <c:ptCount val="12"/>
                <c:pt idx="0">
                  <c:v>يناير </c:v>
                </c:pt>
                <c:pt idx="1">
                  <c:v>فبراير </c:v>
                </c:pt>
                <c:pt idx="2">
                  <c:v>مارس</c:v>
                </c:pt>
                <c:pt idx="3">
                  <c:v>ابريل</c:v>
                </c:pt>
                <c:pt idx="4">
                  <c:v>مايو</c:v>
                </c:pt>
                <c:pt idx="5">
                  <c:v>يونيو</c:v>
                </c:pt>
                <c:pt idx="6">
                  <c:v>يوليو</c:v>
                </c:pt>
                <c:pt idx="7">
                  <c:v>اغسطس</c:v>
                </c:pt>
                <c:pt idx="8">
                  <c:v>سبتمبر</c:v>
                </c:pt>
                <c:pt idx="9">
                  <c:v>اكتوبر</c:v>
                </c:pt>
                <c:pt idx="10">
                  <c:v>نوفمبر</c:v>
                </c:pt>
                <c:pt idx="11">
                  <c:v>ديسمبر</c:v>
                </c:pt>
              </c:strCache>
            </c:strRef>
          </c:cat>
          <c:val>
            <c:numRef>
              <c:f>ورقة1!$B$2:$B$13</c:f>
              <c:numCache>
                <c:formatCode>General</c:formatCode>
                <c:ptCount val="12"/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0FE-4C7C-95BB-C6489DCE502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0561152"/>
        <c:axId val="90562944"/>
      </c:lineChart>
      <c:catAx>
        <c:axId val="905611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90562944"/>
        <c:crosses val="autoZero"/>
        <c:auto val="1"/>
        <c:lblAlgn val="ctr"/>
        <c:lblOffset val="100"/>
        <c:noMultiLvlLbl val="0"/>
      </c:catAx>
      <c:valAx>
        <c:axId val="90562944"/>
        <c:scaling>
          <c:orientation val="minMax"/>
        </c:scaling>
        <c:delete val="0"/>
        <c:axPos val="l"/>
        <c:majorGridlines/>
        <c:numFmt formatCode="0.00" sourceLinked="0"/>
        <c:majorTickMark val="out"/>
        <c:minorTickMark val="none"/>
        <c:tickLblPos val="nextTo"/>
        <c:crossAx val="90561152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ar-EG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ar-SA"/>
              <a:t>انقر لتحرير نمط العنوان الرئيسي</a:t>
            </a:r>
          </a:p>
        </p:txBody>
      </p:sp>
      <p:sp>
        <p:nvSpPr>
          <p:cNvPr id="3" name="عنوان فرعي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ar-SA"/>
              <a:t>انقر لتحرير نمط العنوان الثانوي الرئيسي</a:t>
            </a:r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/>
              <a:t>19/10/1447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العنوان الرئيسي</a:t>
            </a:r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/>
              <a:t>19/10/1447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ar-SA"/>
              <a:t>انقر لتحرير نمط العنوان الرئيسي</a:t>
            </a:r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النص الرئيسي</a:t>
            </a:r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/>
              <a:t>19/10/1447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ي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العنوان الرئيسي</a:t>
            </a:r>
          </a:p>
        </p:txBody>
      </p:sp>
      <p:sp>
        <p:nvSpPr>
          <p:cNvPr id="3" name="عنصر نائب للمحتوى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ar-SA"/>
              <a:t>انقر لتحرير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ar-SA"/>
              <a:t>انقر لتحرير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/>
              <a:t>19/10/1447</a:t>
            </a:fld>
            <a:endParaRPr lang="ar-SA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ar-SA"/>
              <a:t>انقر لتحرير نمط العنوان الرئيسي</a:t>
            </a:r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النص الرئيسي</a:t>
            </a:r>
          </a:p>
        </p:txBody>
      </p:sp>
      <p:sp>
        <p:nvSpPr>
          <p:cNvPr id="4" name="عنصر نائب للمحتوى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ar-SA"/>
              <a:t>انقر لتحرير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5" name="عنصر نائب للنص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النص الرئيسي</a:t>
            </a:r>
          </a:p>
        </p:txBody>
      </p:sp>
      <p:sp>
        <p:nvSpPr>
          <p:cNvPr id="6" name="عنصر نائب للمحتوى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ar-SA"/>
              <a:t>انقر لتحرير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7" name="عنصر نائب للتاريخ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/>
              <a:t>19/10/1447</a:t>
            </a:fld>
            <a:endParaRPr lang="ar-SA"/>
          </a:p>
        </p:txBody>
      </p:sp>
      <p:sp>
        <p:nvSpPr>
          <p:cNvPr id="8" name="عنصر نائب للتذييل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عنصر نائب لرقم الشريحة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العنوان الرئيسي</a:t>
            </a:r>
          </a:p>
        </p:txBody>
      </p:sp>
      <p:sp>
        <p:nvSpPr>
          <p:cNvPr id="3" name="عنصر نائب للتاريخ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/>
              <a:t>19/10/1447</a:t>
            </a:fld>
            <a:endParaRPr lang="ar-SA"/>
          </a:p>
        </p:txBody>
      </p:sp>
      <p:sp>
        <p:nvSpPr>
          <p:cNvPr id="4" name="عنصر نائب للتذييل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عنصر نائب لرقم الشريحة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/>
              <a:t>19/10/1447</a:t>
            </a:fld>
            <a:endParaRPr lang="ar-SA"/>
          </a:p>
        </p:txBody>
      </p:sp>
      <p:sp>
        <p:nvSpPr>
          <p:cNvPr id="3" name="عنصر نائب للتذييل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ذو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ar-SA"/>
              <a:t>انقر لتحرير نمط العنوان الرئيسي</a:t>
            </a:r>
          </a:p>
        </p:txBody>
      </p:sp>
      <p:sp>
        <p:nvSpPr>
          <p:cNvPr id="3" name="عنصر نائب للمحتوى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/>
              <a:t>انقر لتحرير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النص الرئيسي</a:t>
            </a:r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/>
              <a:t>19/10/1447</a:t>
            </a:fld>
            <a:endParaRPr lang="ar-SA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ذو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ar-SA"/>
              <a:t>انقر لتحرير نمط العنوان الرئيسي</a:t>
            </a:r>
          </a:p>
        </p:txBody>
      </p:sp>
      <p:sp>
        <p:nvSpPr>
          <p:cNvPr id="3" name="عنصر نائب للصورة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SA"/>
          </a:p>
        </p:txBody>
      </p:sp>
      <p:sp>
        <p:nvSpPr>
          <p:cNvPr id="4" name="عنصر نائب للنص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النص الرئيسي</a:t>
            </a:r>
          </a:p>
        </p:txBody>
      </p:sp>
      <p:sp>
        <p:nvSpPr>
          <p:cNvPr id="5" name="عنصر نائب للتاريخ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/>
              <a:t>19/10/1447</a:t>
            </a:fld>
            <a:endParaRPr lang="ar-SA"/>
          </a:p>
        </p:txBody>
      </p:sp>
      <p:sp>
        <p:nvSpPr>
          <p:cNvPr id="6" name="عنصر نائب للتذييل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عنصر نائب لرقم الشريحة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العنوان الرئيسي</a:t>
            </a:r>
          </a:p>
        </p:txBody>
      </p:sp>
      <p:sp>
        <p:nvSpPr>
          <p:cNvPr id="3" name="عنصر نائب للعنوان العمودي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/>
              <a:t>انقر لتحرير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/>
              <a:t>19/10/1447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ar-SA"/>
              <a:t>انقر لتحرير نمط العنوان الرئيسي</a:t>
            </a:r>
          </a:p>
        </p:txBody>
      </p:sp>
      <p:sp>
        <p:nvSpPr>
          <p:cNvPr id="3" name="عنصر نائب للعنوان العمودي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ar-SA"/>
              <a:t>انقر لتحرير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8ABB09-4A1D-463E-8065-109CC2B7EFAA}" type="datetimeFigureOut">
              <a:rPr lang="ar-SA" smtClean="0"/>
              <a:t>19/10/1447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34F065-1154-456A-91E3-76DE8E75E17B}" type="slidenum">
              <a:rPr lang="ar-SA" smtClean="0"/>
              <a:t>‹#›</a:t>
            </a:fld>
            <a:endParaRPr lang="ar-S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عنوان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ar-SA"/>
              <a:t>انقر لتحرير نمط العنوان الرئيسي</a:t>
            </a:r>
          </a:p>
        </p:txBody>
      </p:sp>
      <p:sp>
        <p:nvSpPr>
          <p:cNvPr id="3" name="عنصر نائب للنص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ar-SA"/>
              <a:t>انقر لتحرير أنماط النص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</a:p>
        </p:txBody>
      </p:sp>
      <p:sp>
        <p:nvSpPr>
          <p:cNvPr id="4" name="عنصر نائب للتاريخ 3"/>
          <p:cNvSpPr>
            <a:spLocks noGrp="1"/>
          </p:cNvSpPr>
          <p:nvPr>
            <p:ph type="dt" sz="half" idx="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8ABB09-4A1D-463E-8065-109CC2B7EFAA}" type="datetimeFigureOut">
              <a:rPr lang="ar-SA" smtClean="0"/>
              <a:t>19/10/1447</a:t>
            </a:fld>
            <a:endParaRPr lang="ar-SA"/>
          </a:p>
        </p:txBody>
      </p:sp>
      <p:sp>
        <p:nvSpPr>
          <p:cNvPr id="5" name="عنصر نائب للتذييل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SA"/>
          </a:p>
        </p:txBody>
      </p:sp>
      <p:sp>
        <p:nvSpPr>
          <p:cNvPr id="6" name="عنصر نائب لرقم الشريحة 5"/>
          <p:cNvSpPr>
            <a:spLocks noGrp="1"/>
          </p:cNvSpPr>
          <p:nvPr>
            <p:ph type="sldNum" sz="quarter" idx="4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34F065-1154-456A-91E3-76DE8E75E17B}" type="slidenum">
              <a:rPr lang="ar-SA" smtClean="0"/>
              <a:t>‹#›</a:t>
            </a:fld>
            <a:endParaRPr lang="ar-S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1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r" defTabSz="914400" rtl="1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defTabSz="914400" rtl="1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ctrTitle"/>
          </p:nvPr>
        </p:nvSpPr>
        <p:spPr>
          <a:xfrm>
            <a:off x="683568" y="4437112"/>
            <a:ext cx="7772400" cy="1800200"/>
          </a:xfrm>
        </p:spPr>
        <p:txBody>
          <a:bodyPr>
            <a:noAutofit/>
          </a:bodyPr>
          <a:lstStyle/>
          <a:p>
            <a:r>
              <a:rPr lang="ar-EG" sz="4000" b="1" dirty="0"/>
              <a:t>الإدارة الصحية بالمحلة الكبرى ثان</a:t>
            </a:r>
            <a:br>
              <a:rPr lang="ar-EG" sz="4000" b="1" dirty="0"/>
            </a:br>
            <a:r>
              <a:rPr lang="ar-EG" sz="4000" b="1" dirty="0"/>
              <a:t>القسم الوقائي</a:t>
            </a:r>
            <a:br>
              <a:rPr lang="ar-EG" sz="4000" b="1" dirty="0"/>
            </a:br>
            <a:r>
              <a:rPr lang="ar-EG" sz="4000" b="1" dirty="0"/>
              <a:t>وحده الوبائيات و الترصد بوحده </a:t>
            </a:r>
          </a:p>
        </p:txBody>
      </p:sp>
      <p:sp>
        <p:nvSpPr>
          <p:cNvPr id="3" name="عنوان فرعي 2"/>
          <p:cNvSpPr>
            <a:spLocks noGrp="1"/>
          </p:cNvSpPr>
          <p:nvPr>
            <p:ph type="subTitle" idx="1"/>
          </p:nvPr>
        </p:nvSpPr>
        <p:spPr>
          <a:xfrm>
            <a:off x="1475656" y="764704"/>
            <a:ext cx="6400800" cy="1752600"/>
          </a:xfrm>
        </p:spPr>
        <p:txBody>
          <a:bodyPr/>
          <a:lstStyle/>
          <a:p>
            <a:r>
              <a:rPr lang="ar-EG" dirty="0"/>
              <a:t>الادارة الصحية ثان المحلة الكبرى </a:t>
            </a:r>
          </a:p>
          <a:p>
            <a:r>
              <a:rPr lang="ar-EG" dirty="0"/>
              <a:t>من 1/1/2023 الى 31/4/2023</a:t>
            </a:r>
          </a:p>
        </p:txBody>
      </p:sp>
      <p:pic>
        <p:nvPicPr>
          <p:cNvPr id="4" name="صورة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404664"/>
            <a:ext cx="7200800" cy="4032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988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7099" y="521654"/>
            <a:ext cx="1083593" cy="1461126"/>
          </a:xfrm>
          <a:prstGeom prst="rect">
            <a:avLst/>
          </a:prstGeom>
        </p:spPr>
      </p:pic>
      <p:pic>
        <p:nvPicPr>
          <p:cNvPr id="6" name="صورة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208" y="521654"/>
            <a:ext cx="1094022" cy="1461126"/>
          </a:xfrm>
          <a:prstGeom prst="rect">
            <a:avLst/>
          </a:prstGeom>
        </p:spPr>
      </p:pic>
      <p:sp>
        <p:nvSpPr>
          <p:cNvPr id="8" name="مستطيل 7"/>
          <p:cNvSpPr/>
          <p:nvPr/>
        </p:nvSpPr>
        <p:spPr>
          <a:xfrm>
            <a:off x="6393270" y="692239"/>
            <a:ext cx="25587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مديرية الصحة والسكان بالغربية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مستطيل 8"/>
          <p:cNvSpPr/>
          <p:nvPr/>
        </p:nvSpPr>
        <p:spPr>
          <a:xfrm>
            <a:off x="6377562" y="1163904"/>
            <a:ext cx="26821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الإدارة الصحية المحلة الكبرى ثان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مستطيل 9"/>
          <p:cNvSpPr/>
          <p:nvPr/>
        </p:nvSpPr>
        <p:spPr>
          <a:xfrm>
            <a:off x="6690242" y="1617702"/>
            <a:ext cx="205678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ar-EG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وحده الوبائيات و الترصد </a:t>
            </a:r>
            <a:r>
              <a:rPr lang="ar-EG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بالوحده</a:t>
            </a:r>
            <a:r>
              <a:rPr lang="ar-EG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الصحية ب.. 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مستطيل 11"/>
          <p:cNvSpPr/>
          <p:nvPr/>
        </p:nvSpPr>
        <p:spPr>
          <a:xfrm>
            <a:off x="7099716" y="4494871"/>
            <a:ext cx="12378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مراقب الترصد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مستطيل 12"/>
          <p:cNvSpPr/>
          <p:nvPr/>
        </p:nvSpPr>
        <p:spPr>
          <a:xfrm>
            <a:off x="4592634" y="4502066"/>
            <a:ext cx="12795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مسئول الترصد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مستطيل 14"/>
          <p:cNvSpPr/>
          <p:nvPr/>
        </p:nvSpPr>
        <p:spPr>
          <a:xfrm>
            <a:off x="764569" y="4494871"/>
            <a:ext cx="10711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ar-EG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مدير </a:t>
            </a:r>
            <a:r>
              <a:rPr lang="ar-EG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الوحده</a:t>
            </a:r>
            <a:endParaRPr lang="ar-EG" sz="1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مستطيل 15"/>
          <p:cNvSpPr/>
          <p:nvPr/>
        </p:nvSpPr>
        <p:spPr>
          <a:xfrm>
            <a:off x="7484638" y="5016603"/>
            <a:ext cx="11961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أ./             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مستطيل 17"/>
          <p:cNvSpPr/>
          <p:nvPr/>
        </p:nvSpPr>
        <p:spPr>
          <a:xfrm>
            <a:off x="4579009" y="5004006"/>
            <a:ext cx="12891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د./              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" name="مستطيل 19"/>
          <p:cNvSpPr/>
          <p:nvPr/>
        </p:nvSpPr>
        <p:spPr>
          <a:xfrm>
            <a:off x="775714" y="5016603"/>
            <a:ext cx="9044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ar-EG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د./        </a:t>
            </a:r>
          </a:p>
        </p:txBody>
      </p:sp>
      <p:sp>
        <p:nvSpPr>
          <p:cNvPr id="22" name="مستطيل 21"/>
          <p:cNvSpPr/>
          <p:nvPr/>
        </p:nvSpPr>
        <p:spPr>
          <a:xfrm>
            <a:off x="0" y="2362535"/>
            <a:ext cx="895309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تحليل بيانات البرنامج القومي الإلكتروني لترصد الامراض المعدية </a:t>
            </a:r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NEDSS</a:t>
            </a:r>
            <a:r>
              <a:rPr 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gerian" panose="04020705040A02060702" pitchFamily="82" charset="0"/>
              </a:rPr>
              <a:t> </a:t>
            </a:r>
            <a:endParaRPr lang="en-US" sz="2800" dirty="0">
              <a:latin typeface="Algerian" panose="04020705040A02060702" pitchFamily="82" charset="0"/>
            </a:endParaRPr>
          </a:p>
        </p:txBody>
      </p:sp>
      <p:sp>
        <p:nvSpPr>
          <p:cNvPr id="23" name="مستطيل 22"/>
          <p:cNvSpPr/>
          <p:nvPr/>
        </p:nvSpPr>
        <p:spPr>
          <a:xfrm>
            <a:off x="3017465" y="3498344"/>
            <a:ext cx="435247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الفترة من   /   /      حتى     /    / 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4" name="مستطيل 23"/>
          <p:cNvSpPr/>
          <p:nvPr/>
        </p:nvSpPr>
        <p:spPr>
          <a:xfrm>
            <a:off x="3500772" y="2903050"/>
            <a:ext cx="27478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EG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الوحدة الصحية ب.....</a:t>
            </a:r>
            <a:endParaRPr lang="en-US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71605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9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000"/>
                            </p:stCondLst>
                            <p:childTnLst>
                              <p:par>
                                <p:cTn id="47" presetID="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8" dur="500" fill="hold"/>
                                        <p:tgtEl>
                                          <p:spTgt spid="2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500"/>
                            </p:stCondLst>
                            <p:childTnLst>
                              <p:par>
                                <p:cTn id="5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750"/>
                            </p:stCondLst>
                            <p:childTnLst>
                              <p:par>
                                <p:cTn id="5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000"/>
                            </p:stCondLst>
                            <p:childTnLst>
                              <p:par>
                                <p:cTn id="6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250"/>
                            </p:stCondLst>
                            <p:childTnLst>
                              <p:par>
                                <p:cTn id="6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3500"/>
                            </p:stCondLst>
                            <p:childTnLst>
                              <p:par>
                                <p:cTn id="7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3750"/>
                            </p:stCondLst>
                            <p:childTnLst>
                              <p:par>
                                <p:cTn id="7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2" grpId="0"/>
      <p:bldP spid="13" grpId="0"/>
      <p:bldP spid="15" grpId="0"/>
      <p:bldP spid="16" grpId="0"/>
      <p:bldP spid="18" grpId="0"/>
      <p:bldP spid="20" grpId="0"/>
      <p:bldP spid="22" grpId="0"/>
      <p:bldP spid="23" grpId="0"/>
      <p:bldP spid="24" grpId="0"/>
      <p:bldP spid="24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457200" y="-76200"/>
            <a:ext cx="8291264" cy="943000"/>
          </a:xfrm>
          <a:prstGeom prst="rect">
            <a:avLst/>
          </a:prstGeom>
          <a:ln w="25400" cap="flat" cmpd="sng" algn="ctr">
            <a:noFill/>
            <a:prstDash val="solid"/>
          </a:ln>
        </p:spPr>
        <p:style>
          <a:lnRef idx="2">
            <a:schemeClr val="dk1"/>
          </a:lnRef>
          <a:fillRef idx="100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1" anchor="ctr">
            <a:normAutofit/>
          </a:bodyPr>
          <a:lstStyle>
            <a:lvl1pPr algn="ctr" defTabSz="914400" rtl="1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ar-EG" sz="3200" b="1" dirty="0"/>
              <a:t> </a:t>
            </a:r>
            <a:r>
              <a:rPr lang="ar-EG" sz="2000" b="1" dirty="0">
                <a:solidFill>
                  <a:schemeClr val="tx1"/>
                </a:solidFill>
                <a:latin typeface="+mj-lt"/>
                <a:ea typeface="+mj-ea"/>
              </a:rPr>
              <a:t>البيانات الديموغرافية </a:t>
            </a:r>
            <a:r>
              <a:rPr lang="ar-EG" sz="2000" b="1" dirty="0" err="1">
                <a:solidFill>
                  <a:schemeClr val="tx1"/>
                </a:solidFill>
                <a:latin typeface="+mj-lt"/>
                <a:ea typeface="+mj-ea"/>
              </a:rPr>
              <a:t>بالوحده</a:t>
            </a:r>
            <a:r>
              <a:rPr lang="ar-EG" sz="2000" b="1" dirty="0">
                <a:solidFill>
                  <a:schemeClr val="tx1"/>
                </a:solidFill>
                <a:latin typeface="+mj-lt"/>
                <a:ea typeface="+mj-ea"/>
              </a:rPr>
              <a:t> </a:t>
            </a:r>
            <a:r>
              <a:rPr lang="ar-EG" sz="2000" b="1">
                <a:solidFill>
                  <a:schemeClr val="tx1"/>
                </a:solidFill>
                <a:latin typeface="+mj-lt"/>
                <a:ea typeface="+mj-ea"/>
              </a:rPr>
              <a:t>الصحية .........   بالإدارة </a:t>
            </a:r>
            <a:r>
              <a:rPr lang="ar-EG" sz="2000" b="1" dirty="0">
                <a:solidFill>
                  <a:schemeClr val="tx1"/>
                </a:solidFill>
                <a:latin typeface="+mj-lt"/>
                <a:ea typeface="+mj-ea"/>
              </a:rPr>
              <a:t>الصحية </a:t>
            </a:r>
            <a:r>
              <a:rPr lang="ar-EG" sz="2000" b="1">
                <a:solidFill>
                  <a:schemeClr val="tx1"/>
                </a:solidFill>
                <a:latin typeface="+mj-lt"/>
                <a:ea typeface="+mj-ea"/>
              </a:rPr>
              <a:t>المحلة ثان</a:t>
            </a:r>
            <a:endParaRPr lang="ar-EG" sz="2000" b="1" dirty="0">
              <a:solidFill>
                <a:schemeClr val="tx1"/>
              </a:solidFill>
              <a:latin typeface="+mj-lt"/>
              <a:ea typeface="+mj-ea"/>
            </a:endParaRPr>
          </a:p>
        </p:txBody>
      </p:sp>
      <p:sp>
        <p:nvSpPr>
          <p:cNvPr id="6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r>
              <a:rPr lang="ar-EG" dirty="0"/>
              <a:t>.</a:t>
            </a:r>
            <a:endParaRPr lang="en-US" dirty="0"/>
          </a:p>
        </p:txBody>
      </p:sp>
      <p:sp>
        <p:nvSpPr>
          <p:cNvPr id="7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7924800" y="6356350"/>
            <a:ext cx="762000" cy="365125"/>
          </a:xfrm>
        </p:spPr>
        <p:txBody>
          <a:bodyPr>
            <a:normAutofit/>
          </a:bodyPr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8" name="Text Placeholder 4"/>
          <p:cNvSpPr txBox="1">
            <a:spLocks/>
          </p:cNvSpPr>
          <p:nvPr/>
        </p:nvSpPr>
        <p:spPr>
          <a:xfrm>
            <a:off x="4273458" y="1266801"/>
            <a:ext cx="4495799" cy="525854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274320" lvl="0" indent="-274320" algn="r">
              <a:lnSpc>
                <a:spcPct val="200000"/>
              </a:lnSpc>
              <a:spcBef>
                <a:spcPct val="20000"/>
              </a:spcBef>
              <a:buClr>
                <a:schemeClr val="accent3"/>
              </a:buClr>
              <a:buSzPct val="95000"/>
              <a:defRPr/>
            </a:pPr>
            <a:r>
              <a:rPr lang="ar-EG" sz="2800" b="1" dirty="0"/>
              <a:t>عــــدد السكـــان التقديري :</a:t>
            </a:r>
            <a:r>
              <a:rPr lang="ar-EG" sz="2800" b="1" dirty="0">
                <a:solidFill>
                  <a:srgbClr val="C00000"/>
                </a:solidFill>
              </a:rPr>
              <a:t> </a:t>
            </a:r>
          </a:p>
          <a:p>
            <a:pPr marL="274320" lvl="0" indent="-274320" algn="r">
              <a:lnSpc>
                <a:spcPct val="200000"/>
              </a:lnSpc>
              <a:spcBef>
                <a:spcPct val="20000"/>
              </a:spcBef>
              <a:buClr>
                <a:schemeClr val="accent3"/>
              </a:buClr>
              <a:buSzPct val="95000"/>
              <a:defRPr/>
            </a:pPr>
            <a:r>
              <a:rPr lang="ar-EG" sz="3200" b="1" dirty="0"/>
              <a:t>القرى والعزب التابعة </a:t>
            </a:r>
            <a:r>
              <a:rPr lang="ar-EG" sz="2400" b="1" dirty="0"/>
              <a:t>:</a:t>
            </a:r>
            <a:endParaRPr lang="ar-EG" sz="2000" b="1" dirty="0">
              <a:solidFill>
                <a:srgbClr val="C00000"/>
              </a:solidFill>
            </a:endParaRPr>
          </a:p>
        </p:txBody>
      </p:sp>
      <p:cxnSp>
        <p:nvCxnSpPr>
          <p:cNvPr id="9" name="Straight Connector 6"/>
          <p:cNvCxnSpPr/>
          <p:nvPr/>
        </p:nvCxnSpPr>
        <p:spPr>
          <a:xfrm flipH="1">
            <a:off x="0" y="1066800"/>
            <a:ext cx="9144000" cy="0"/>
          </a:xfrm>
          <a:prstGeom prst="line">
            <a:avLst/>
          </a:prstGeom>
          <a:ln w="41275">
            <a:solidFill>
              <a:srgbClr val="FF00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" name="صورة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703" y="9525"/>
            <a:ext cx="1440160" cy="105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638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allAtOnce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dirty="0"/>
              <a:t>تحليل بيانات حسب النوع</a:t>
            </a:r>
          </a:p>
        </p:txBody>
      </p:sp>
      <p:graphicFrame>
        <p:nvGraphicFramePr>
          <p:cNvPr id="4" name="عنصر نائب للمحتوى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9767542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71778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dirty="0"/>
              <a:t>تحليل البيانات حسب الاقسام</a:t>
            </a:r>
          </a:p>
        </p:txBody>
      </p:sp>
      <p:graphicFrame>
        <p:nvGraphicFramePr>
          <p:cNvPr id="4" name="عنصر نائب للمحتوى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354350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240308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dirty="0"/>
              <a:t>تحليل البيانات حسب </a:t>
            </a:r>
            <a:r>
              <a:rPr lang="ar-EG" dirty="0" err="1"/>
              <a:t>النتيجه</a:t>
            </a:r>
            <a:endParaRPr lang="ar-EG" dirty="0"/>
          </a:p>
        </p:txBody>
      </p:sp>
      <p:graphicFrame>
        <p:nvGraphicFramePr>
          <p:cNvPr id="4" name="عنصر نائب للمحتوى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05302309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677829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dirty="0"/>
              <a:t>تحليل البيانات حسب </a:t>
            </a:r>
            <a:r>
              <a:rPr lang="ar-EG" dirty="0" err="1"/>
              <a:t>التشحيص</a:t>
            </a:r>
            <a:r>
              <a:rPr lang="ar-EG" dirty="0"/>
              <a:t> </a:t>
            </a:r>
          </a:p>
        </p:txBody>
      </p:sp>
      <p:graphicFrame>
        <p:nvGraphicFramePr>
          <p:cNvPr id="4" name="عنصر نائب للمحتوى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085944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20608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dirty="0"/>
              <a:t>تحليل البيانات حسب الامراض</a:t>
            </a:r>
          </a:p>
        </p:txBody>
      </p:sp>
      <p:graphicFrame>
        <p:nvGraphicFramePr>
          <p:cNvPr id="4" name="عنصر نائب للمحتوى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281126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800437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dirty="0"/>
              <a:t>تحليل البيانات حسب الفئه العمرية</a:t>
            </a:r>
          </a:p>
        </p:txBody>
      </p:sp>
      <p:graphicFrame>
        <p:nvGraphicFramePr>
          <p:cNvPr id="4" name="عنصر نائب للمحتوى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6247115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459042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dirty="0"/>
              <a:t>تحليل حسب الوقت اسبوعيا</a:t>
            </a:r>
          </a:p>
        </p:txBody>
      </p:sp>
      <p:graphicFrame>
        <p:nvGraphicFramePr>
          <p:cNvPr id="4" name="عنصر نائب للمحتوى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5519483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710830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EG" dirty="0"/>
              <a:t>تحليل حسب الوقت شهريا</a:t>
            </a:r>
          </a:p>
        </p:txBody>
      </p:sp>
      <p:graphicFrame>
        <p:nvGraphicFramePr>
          <p:cNvPr id="4" name="عنصر نائب للمحتوى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519634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560788529"/>
      </p:ext>
    </p:extLst>
  </p:cSld>
  <p:clrMapOvr>
    <a:masterClrMapping/>
  </p:clrMapOvr>
</p:sld>
</file>

<file path=ppt/theme/theme1.xml><?xml version="1.0" encoding="utf-8"?>
<a:theme xmlns:a="http://schemas.openxmlformats.org/drawingml/2006/main" name="سمة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133</Words>
  <Application>Microsoft Office PowerPoint</Application>
  <PresentationFormat>On-screen Show (4:3)</PresentationFormat>
  <Paragraphs>36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Algerian</vt:lpstr>
      <vt:lpstr>Arial</vt:lpstr>
      <vt:lpstr>Calibri</vt:lpstr>
      <vt:lpstr>سمة Office</vt:lpstr>
      <vt:lpstr>الإدارة الصحية بالمحلة الكبرى ثان القسم الوقائي وحده الوبائيات و الترصد بوحده </vt:lpstr>
      <vt:lpstr>PowerPoint Presentation</vt:lpstr>
      <vt:lpstr>PowerPoint Presentation</vt:lpstr>
      <vt:lpstr>تحليل بيانات حسب النوع</vt:lpstr>
      <vt:lpstr>تحليل البيانات حسب الاقسام</vt:lpstr>
      <vt:lpstr>تحليل البيانات حسب النتيجه</vt:lpstr>
      <vt:lpstr>تحليل البيانات حسب التشحيص </vt:lpstr>
      <vt:lpstr>تحليل البيانات حسب الامراض</vt:lpstr>
      <vt:lpstr>تحليل البيانات حسب الفئه العمرية</vt:lpstr>
      <vt:lpstr>تحليل حسب الوقت اسبوعيا</vt:lpstr>
      <vt:lpstr>تحليل حسب الوقت شهريا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تحليل بيانات حسب النوع</dc:title>
  <dc:creator>amr</dc:creator>
  <cp:lastModifiedBy>GM15SMYH@outlook.com</cp:lastModifiedBy>
  <cp:revision>11</cp:revision>
  <dcterms:created xsi:type="dcterms:W3CDTF">2026-02-09T06:34:07Z</dcterms:created>
  <dcterms:modified xsi:type="dcterms:W3CDTF">2026-04-06T09:00:38Z</dcterms:modified>
</cp:coreProperties>
</file>